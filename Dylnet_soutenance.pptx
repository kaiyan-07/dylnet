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332" r:id="rId19"/>
  </p:sldIdLst>
  <p:sldSz cx="12192000" cy="6858000"/>
  <p:notesSz cx="7102475" cy="102330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41"/>
    <p:restoredTop sz="94634"/>
  </p:normalViewPr>
  <p:slideViewPr>
    <p:cSldViewPr snapToGrid="0" showGuides="1">
      <p:cViewPr varScale="1">
        <p:scale>
          <a:sx n="100" d="100"/>
          <a:sy n="100" d="100"/>
        </p:scale>
        <p:origin x="59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宋体"/>
                <a:ea typeface="宋体"/>
                <a:cs typeface="宋体"/>
                <a:sym typeface="宋体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宋体"/>
              <a:ea typeface="宋体"/>
              <a:cs typeface="宋体"/>
              <a:sym typeface="宋体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9107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ccf2b498e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00" cy="345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ccf2b498e_0_139:notes"/>
          <p:cNvSpPr txBox="1">
            <a:spLocks noGrp="1"/>
          </p:cNvSpPr>
          <p:nvPr>
            <p:ph type="body" idx="1"/>
          </p:nvPr>
        </p:nvSpPr>
        <p:spPr>
          <a:xfrm>
            <a:off x="711200" y="4926013"/>
            <a:ext cx="5683200" cy="40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dccf2b498e_0_139:notes"/>
          <p:cNvSpPr txBox="1">
            <a:spLocks noGrp="1"/>
          </p:cNvSpPr>
          <p:nvPr>
            <p:ph type="sldNum" idx="12"/>
          </p:nvPr>
        </p:nvSpPr>
        <p:spPr>
          <a:xfrm>
            <a:off x="4024313" y="9721850"/>
            <a:ext cx="3078300" cy="512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</a:pPr>
            <a:fld id="{00000000-1234-1234-1234-123412341234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 i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1pPr>
            <a:lvl2pPr marL="914400" lvl="1" indent="-3429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Char char="•"/>
              <a:defRPr sz="1600">
                <a:solidFill>
                  <a:srgbClr val="3F3F3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2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3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4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  <a:defRPr sz="48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>
            <a:spLocks noGrp="1"/>
          </p:cNvSpPr>
          <p:nvPr>
            <p:ph type="pic" idx="2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5"/>
          <p:cNvSpPr txBox="1">
            <a:spLocks noGrp="1"/>
          </p:cNvSpPr>
          <p:nvPr>
            <p:ph type="body" idx="1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body" idx="1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">
  <p:cSld name="内容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  <p:sp>
        <p:nvSpPr>
          <p:cNvPr id="75" name="Google Shape;75;p27"/>
          <p:cNvSpPr txBox="1">
            <a:spLocks noGrp="1"/>
          </p:cNvSpPr>
          <p:nvPr>
            <p:ph type="body" idx="1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title"/>
          </p:nvPr>
        </p:nvSpPr>
        <p:spPr>
          <a:xfrm>
            <a:off x="838200" y="7829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F8FC"/>
              </a:buClr>
              <a:buSzPts val="6000"/>
              <a:buFont typeface="Calibri"/>
              <a:buNone/>
            </a:pPr>
            <a:r>
              <a:rPr lang="en-US" sz="6000" b="0">
                <a:solidFill>
                  <a:srgbClr val="0B539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Projet Professionnel Dylnet </a:t>
            </a:r>
            <a:endParaRPr sz="6000" b="0">
              <a:solidFill>
                <a:srgbClr val="0B539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pic>
        <p:nvPicPr>
          <p:cNvPr id="81" name="Google Shape;81;p1" descr="Logo_transparent"/>
          <p:cNvPicPr preferRelativeResize="0"/>
          <p:nvPr/>
        </p:nvPicPr>
        <p:blipFill rotWithShape="1">
          <a:blip r:embed="rId3"/>
          <a:srcRect t="6684"/>
          <a:stretch>
            <a:fillRect/>
          </a:stretch>
        </p:blipFill>
        <p:spPr>
          <a:xfrm>
            <a:off x="6485255" y="2811780"/>
            <a:ext cx="3440430" cy="1781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" descr="16561740432110_.pic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025" y="2701925"/>
            <a:ext cx="2930525" cy="2294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" descr="16561740432110_.pic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459355" y="2609215"/>
            <a:ext cx="2794000" cy="21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"/>
          <p:cNvSpPr txBox="1"/>
          <p:nvPr/>
        </p:nvSpPr>
        <p:spPr>
          <a:xfrm>
            <a:off x="2094230" y="5296535"/>
            <a:ext cx="78315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Université Grenoble Alpes Industrie de la langue M2 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YANG Bin | LI Kaiyan 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920115" y="564515"/>
            <a:ext cx="7185025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Contexte du projet Dylnet </a:t>
            </a:r>
          </a:p>
        </p:txBody>
      </p:sp>
      <p:sp>
        <p:nvSpPr>
          <p:cNvPr id="91" name="Google Shape;91;p2"/>
          <p:cNvSpPr txBox="1"/>
          <p:nvPr/>
        </p:nvSpPr>
        <p:spPr>
          <a:xfrm>
            <a:off x="612775" y="1606550"/>
            <a:ext cx="10875645" cy="182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  <a:scene3d>
              <a:camera prst="orthographicFront"/>
              <a:lightRig rig="threePt" dir="t"/>
            </a:scene3d>
          </a:bodyPr>
          <a:lstStyle/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</a:pP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Comment les enfants </a:t>
            </a:r>
            <a:r>
              <a:rPr lang="fr-FR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à l’école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 s'influencent les uns les autres au niveau du langage oral et comment les adultes pr</a:t>
            </a:r>
            <a:r>
              <a:rPr lang="en-US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é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sents</a:t>
            </a:r>
            <a:r>
              <a:rPr lang="fr-FR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 à</a:t>
            </a:r>
            <a:r>
              <a:rPr lang="en-US" altLang="fr-FR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 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l'</a:t>
            </a:r>
            <a:r>
              <a:rPr lang="en-US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é</a:t>
            </a:r>
            <a:r>
              <a:rPr lang="en-US" altLang="zh-CN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cole et les enseignants et influencent le d</a:t>
            </a:r>
            <a:r>
              <a:rPr lang="fr-FR" alt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éveloppement de leur langage oral</a:t>
            </a:r>
            <a:r>
              <a:rPr lang="en-US" altLang="fr-FR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Times New Roman Regular" panose="02020603050405020304" charset="0"/>
                <a:ea typeface="Times" panose="00000500000000020000"/>
                <a:cs typeface="Times New Roman Regular" panose="02020603050405020304" charset="0"/>
                <a:sym typeface="Times" panose="00000500000000020000"/>
              </a:rPr>
              <a:t>?</a:t>
            </a:r>
          </a:p>
          <a:p>
            <a:pPr marL="457200" marR="0" lvl="0" indent="-4572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</a:pPr>
            <a:endParaRPr lang="en-US" altLang="zh-CN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603050405020304" charset="0"/>
              <a:ea typeface="Times" panose="00000500000000020000"/>
              <a:cs typeface="Times New Roman Regular" panose="02020603050405020304" charset="0"/>
              <a:sym typeface="Times" panose="00000500000000020000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None/>
            </a:pPr>
            <a:endParaRPr lang="en-US" altLang="zh-CN" sz="3200" baseline="30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Times New Roman Regular" panose="02020603050405020304" charset="0"/>
              <a:ea typeface="Times" panose="00000500000000020000"/>
              <a:cs typeface="Times New Roman Regular" panose="02020603050405020304" charset="0"/>
              <a:sym typeface="Times" panose="00000500000000020000"/>
            </a:endParaRPr>
          </a:p>
        </p:txBody>
      </p:sp>
      <p:pic>
        <p:nvPicPr>
          <p:cNvPr id="83" name="Google Shape;83;p1" descr="16561740432110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745980" y="264160"/>
            <a:ext cx="1540510" cy="1342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 descr="下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205" y="3895725"/>
            <a:ext cx="4395470" cy="2461260"/>
          </a:xfrm>
          <a:prstGeom prst="rect">
            <a:avLst/>
          </a:prstGeom>
        </p:spPr>
      </p:pic>
      <p:pic>
        <p:nvPicPr>
          <p:cNvPr id="3" name="图片 0" descr="imag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915" y="3911600"/>
            <a:ext cx="4092575" cy="24149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 descr="16571740433551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160020"/>
            <a:ext cx="12192000" cy="65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0E30CC2-D201-B14E-B4C2-8C61071D1A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16" t="15666" r="18519" b="3849"/>
          <a:stretch/>
        </p:blipFill>
        <p:spPr>
          <a:xfrm>
            <a:off x="-228600" y="780208"/>
            <a:ext cx="9054543" cy="5943913"/>
          </a:xfrm>
          <a:prstGeom prst="rect">
            <a:avLst/>
          </a:prstGeom>
        </p:spPr>
      </p:pic>
      <p:sp>
        <p:nvSpPr>
          <p:cNvPr id="108" name="Google Shape;108;p5"/>
          <p:cNvSpPr/>
          <p:nvPr/>
        </p:nvSpPr>
        <p:spPr>
          <a:xfrm>
            <a:off x="3410489" y="218373"/>
            <a:ext cx="60204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D5FCDB"/>
                </a:solidFill>
                <a:latin typeface="Arial"/>
                <a:ea typeface="Arial"/>
                <a:cs typeface="Arial"/>
                <a:sym typeface="Arial"/>
              </a:rPr>
              <a:t>Schéma</a:t>
            </a:r>
            <a:r>
              <a:rPr lang="en-US" sz="3600" b="1" i="0" u="none" strike="noStrike" cap="none" dirty="0">
                <a:solidFill>
                  <a:srgbClr val="D5FCD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rgbClr val="D5FCDB"/>
                </a:solidFill>
                <a:latin typeface="Arial"/>
                <a:ea typeface="Arial"/>
                <a:cs typeface="Arial"/>
                <a:sym typeface="Arial"/>
              </a:rPr>
              <a:t>d’Architecture</a:t>
            </a:r>
            <a:endParaRPr dirty="0"/>
          </a:p>
        </p:txBody>
      </p:sp>
      <p:sp>
        <p:nvSpPr>
          <p:cNvPr id="4" name="Google Shape;102;p4">
            <a:extLst>
              <a:ext uri="{FF2B5EF4-FFF2-40B4-BE49-F238E27FC236}">
                <a16:creationId xmlns:a16="http://schemas.microsoft.com/office/drawing/2014/main" id="{59C4D8A5-47D2-3F41-AD01-DB75D3DB19F8}"/>
              </a:ext>
            </a:extLst>
          </p:cNvPr>
          <p:cNvSpPr txBox="1">
            <a:spLocks/>
          </p:cNvSpPr>
          <p:nvPr/>
        </p:nvSpPr>
        <p:spPr>
          <a:xfrm>
            <a:off x="8932623" y="1230117"/>
            <a:ext cx="3797583" cy="512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76200" indent="0">
              <a:lnSpc>
                <a:spcPct val="150000"/>
              </a:lnSpc>
              <a:buSzPts val="1800"/>
              <a:buFont typeface="Arial"/>
              <a:buNone/>
            </a:pPr>
            <a:r>
              <a:rPr lang="en-US" sz="2100" b="1" dirty="0"/>
              <a:t>Back-end : </a:t>
            </a:r>
          </a:p>
          <a:p>
            <a:pPr marL="419100" indent="-3429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100" dirty="0"/>
              <a:t>Flask </a:t>
            </a:r>
          </a:p>
          <a:p>
            <a:pPr indent="-381000">
              <a:lnSpc>
                <a:spcPct val="150000"/>
              </a:lnSpc>
              <a:buSzPts val="1800"/>
              <a:buFont typeface="Arial"/>
              <a:buNone/>
            </a:pPr>
            <a:r>
              <a:rPr lang="en-US" sz="2100" b="1" dirty="0"/>
              <a:t>Front-end : </a:t>
            </a:r>
          </a:p>
          <a:p>
            <a:pPr indent="-38100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sz="2100" dirty="0"/>
              <a:t>HTML, CSS, JavaScript</a:t>
            </a:r>
          </a:p>
          <a:p>
            <a:pPr marL="95250" indent="0">
              <a:lnSpc>
                <a:spcPct val="150000"/>
              </a:lnSpc>
              <a:buSzPts val="2100"/>
              <a:buNone/>
            </a:pPr>
            <a:r>
              <a:rPr lang="en-US" sz="2100" b="1" dirty="0"/>
              <a:t>Analyses </a:t>
            </a:r>
            <a:r>
              <a:rPr lang="en-US" sz="2100" b="1" dirty="0" err="1"/>
              <a:t>linguistiques</a:t>
            </a:r>
            <a:r>
              <a:rPr lang="en-US" sz="2100" b="1" dirty="0"/>
              <a:t> : </a:t>
            </a:r>
          </a:p>
          <a:p>
            <a:pPr marL="438150" indent="-34290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2100" dirty="0" err="1"/>
              <a:t>TreeTagger</a:t>
            </a:r>
            <a:r>
              <a:rPr lang="en-US" sz="2100" dirty="0"/>
              <a:t> &amp; Stanza</a:t>
            </a:r>
          </a:p>
          <a:p>
            <a:pPr indent="-381000">
              <a:lnSpc>
                <a:spcPct val="150000"/>
              </a:lnSpc>
              <a:buSzPts val="1800"/>
              <a:buFont typeface="Arial"/>
              <a:buNone/>
            </a:pPr>
            <a:r>
              <a:rPr lang="en-US" sz="2100" b="1" dirty="0"/>
              <a:t>Stockage des </a:t>
            </a:r>
            <a:r>
              <a:rPr lang="en-US" sz="2100" b="1" dirty="0" err="1"/>
              <a:t>données</a:t>
            </a:r>
            <a:r>
              <a:rPr lang="en-US" sz="2100" b="1" dirty="0"/>
              <a:t> : </a:t>
            </a:r>
            <a:r>
              <a:rPr lang="en-US" sz="2100" b="1" dirty="0" err="1"/>
              <a:t>en</a:t>
            </a:r>
            <a:r>
              <a:rPr lang="en-US" sz="2100" b="1" dirty="0"/>
              <a:t> local</a:t>
            </a:r>
          </a:p>
          <a:p>
            <a:pPr marL="438150" indent="-342900">
              <a:lnSpc>
                <a:spcPct val="150000"/>
              </a:lnSpc>
              <a:buSzPts val="2100"/>
              <a:buFont typeface="Arial" panose="020B0604020202020204" pitchFamily="34" charset="0"/>
              <a:buChar char="•"/>
            </a:pPr>
            <a:r>
              <a:rPr lang="en-US" sz="2100" dirty="0" err="1"/>
              <a:t>Fichiers</a:t>
            </a:r>
            <a:r>
              <a:rPr lang="en-US" sz="2100" dirty="0"/>
              <a:t> </a:t>
            </a:r>
            <a:r>
              <a:rPr lang="en-US" sz="2100" dirty="0" err="1"/>
              <a:t>téléversés</a:t>
            </a:r>
            <a:r>
              <a:rPr lang="en-US" sz="2100" dirty="0"/>
              <a:t> → dossier uploads/</a:t>
            </a:r>
          </a:p>
          <a:p>
            <a:pPr marL="438150" indent="-342900">
              <a:lnSpc>
                <a:spcPct val="150000"/>
              </a:lnSpc>
              <a:spcBef>
                <a:spcPts val="0"/>
              </a:spcBef>
              <a:buSzPts val="2100"/>
              <a:buFont typeface="Arial" panose="020B0604020202020204" pitchFamily="34" charset="0"/>
              <a:buChar char="•"/>
            </a:pPr>
            <a:r>
              <a:rPr lang="en-US" sz="2100" dirty="0" err="1"/>
              <a:t>Résultats</a:t>
            </a:r>
            <a:r>
              <a:rPr lang="en-US" sz="2100" dirty="0"/>
              <a:t> </a:t>
            </a:r>
            <a:r>
              <a:rPr lang="en-US" sz="2100" dirty="0" err="1"/>
              <a:t>générés</a:t>
            </a:r>
            <a:r>
              <a:rPr lang="en-US" sz="2100" dirty="0"/>
              <a:t> → dossier Sortie/</a:t>
            </a:r>
          </a:p>
          <a:p>
            <a:pPr marL="76200" indent="0">
              <a:buSzPts val="1800"/>
              <a:buFont typeface="Arial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6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 descr="下载 (1)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06795" y="278130"/>
            <a:ext cx="354711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 txBox="1"/>
          <p:nvPr/>
        </p:nvSpPr>
        <p:spPr>
          <a:xfrm>
            <a:off x="415290" y="500380"/>
            <a:ext cx="534416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Calibri"/>
                <a:ea typeface="Calibri"/>
                <a:cs typeface="Calibri"/>
                <a:sym typeface="Calibri"/>
              </a:rPr>
              <a:t>Enrichissement fichiers </a:t>
            </a:r>
          </a:p>
        </p:txBody>
      </p:sp>
      <p:pic>
        <p:nvPicPr>
          <p:cNvPr id="108" name="Google Shape;108;p5" descr="16591740435717_.pic"/>
          <p:cNvPicPr preferRelativeResize="0"/>
          <p:nvPr/>
        </p:nvPicPr>
        <p:blipFill rotWithShape="1">
          <a:blip r:embed="rId4"/>
          <a:srcRect t="24460"/>
          <a:stretch>
            <a:fillRect/>
          </a:stretch>
        </p:blipFill>
        <p:spPr>
          <a:xfrm>
            <a:off x="187960" y="2767965"/>
            <a:ext cx="11816080" cy="201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415315" y="5109300"/>
            <a:ext cx="4904700" cy="119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20min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7113270" y="1358265"/>
            <a:ext cx="1122680" cy="400050"/>
          </a:xfrm>
          <a:prstGeom prst="straightConnector1">
            <a:avLst/>
          </a:prstGeom>
          <a:ln w="31750" cap="flat" cmpd="sng">
            <a:solidFill>
              <a:srgbClr val="002060"/>
            </a:solidFill>
            <a:prstDash val="solid"/>
            <a:headEnd type="none"/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14680" y="1955165"/>
            <a:ext cx="10811510" cy="3994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2000" b="1">
                <a:solidFill>
                  <a:schemeClr val="tx1"/>
                </a:solidFill>
                <a:effectLst/>
                <a:latin typeface="Arial Bold" panose="020B0604020202090204" charset="0"/>
                <a:cs typeface="Arial Bold" panose="020B0604020202090204" charset="0"/>
              </a:rPr>
              <a:t>ID | FORM | LEMMA | UPOS | XPOS | GENRE | NOMBRE | PERSONNE </a:t>
            </a:r>
            <a:r>
              <a:rPr lang="en-US" altLang="zh-CN" sz="2000" b="1">
                <a:solidFill>
                  <a:schemeClr val="tx1"/>
                </a:solidFill>
                <a:effectLst/>
                <a:latin typeface="Arial Bold" panose="020B0604020202090204" charset="0"/>
                <a:cs typeface="Arial Bold" panose="020B0604020202090204" charset="0"/>
                <a:sym typeface="+mn-ea"/>
              </a:rPr>
              <a:t>| </a:t>
            </a:r>
            <a:r>
              <a:rPr lang="en-US" altLang="zh-CN" sz="2000" b="1">
                <a:solidFill>
                  <a:schemeClr val="tx1"/>
                </a:solidFill>
                <a:effectLst/>
                <a:latin typeface="Arial Bold" panose="020B0604020202090204" charset="0"/>
                <a:cs typeface="Arial Bold" panose="020B0604020202090204" charset="0"/>
              </a:rPr>
              <a:t>DEPREL | DEPS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1107440" y="140335"/>
            <a:ext cx="10274935" cy="6577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/>
        </p:nvSpPr>
        <p:spPr>
          <a:xfrm>
            <a:off x="1082675" y="248920"/>
            <a:ext cx="534416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n w="15875"/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2700000" scaled="0"/>
                </a:gradFill>
                <a:effectLst/>
                <a:latin typeface="Calibri"/>
                <a:ea typeface="Calibri"/>
                <a:cs typeface="Calibri"/>
                <a:sym typeface="Calibri"/>
              </a:rPr>
              <a:t>Analyse brute  </a:t>
            </a:r>
          </a:p>
        </p:txBody>
      </p:sp>
      <p:pic>
        <p:nvPicPr>
          <p:cNvPr id="120" name="Google Shape;120;p7" descr="16261740164773_.pic"/>
          <p:cNvPicPr preferRelativeResize="0"/>
          <p:nvPr/>
        </p:nvPicPr>
        <p:blipFill rotWithShape="1">
          <a:blip r:embed="rId3"/>
          <a:srcRect t="7367"/>
          <a:stretch>
            <a:fillRect/>
          </a:stretch>
        </p:blipFill>
        <p:spPr>
          <a:xfrm>
            <a:off x="1082675" y="1009650"/>
            <a:ext cx="9657080" cy="555053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7"/>
          <p:cNvSpPr txBox="1"/>
          <p:nvPr/>
        </p:nvSpPr>
        <p:spPr>
          <a:xfrm>
            <a:off x="6426835" y="4996815"/>
            <a:ext cx="4904740" cy="1197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40s 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8" descr="16661740440628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675130" y="65405"/>
            <a:ext cx="9537065" cy="6592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/>
        </p:nvSpPr>
        <p:spPr>
          <a:xfrm>
            <a:off x="1082675" y="133350"/>
            <a:ext cx="10582275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Analyse organisée (regroupement contextuel)  </a:t>
            </a:r>
            <a:endParaRPr sz="36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9" descr="16281740164949_.pic"/>
          <p:cNvPicPr preferRelativeResize="0"/>
          <p:nvPr/>
        </p:nvPicPr>
        <p:blipFill rotWithShape="1">
          <a:blip r:embed="rId3"/>
          <a:srcRect t="6560"/>
          <a:stretch>
            <a:fillRect/>
          </a:stretch>
        </p:blipFill>
        <p:spPr>
          <a:xfrm>
            <a:off x="1082675" y="894080"/>
            <a:ext cx="9793605" cy="5494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 descr="16301740165052_.pic"/>
          <p:cNvPicPr preferRelativeResize="0"/>
          <p:nvPr/>
        </p:nvPicPr>
        <p:blipFill rotWithShape="1">
          <a:blip r:embed="rId4"/>
          <a:srcRect r="47109"/>
          <a:stretch>
            <a:fillRect/>
          </a:stretch>
        </p:blipFill>
        <p:spPr>
          <a:xfrm>
            <a:off x="4453890" y="2165985"/>
            <a:ext cx="4904740" cy="192341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9"/>
          <p:cNvSpPr txBox="1"/>
          <p:nvPr/>
        </p:nvSpPr>
        <p:spPr>
          <a:xfrm>
            <a:off x="7287260" y="4819650"/>
            <a:ext cx="4904740" cy="1568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</a:t>
            </a:r>
            <a:r>
              <a:rPr lang="en-US" sz="2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1min12s</a:t>
            </a:r>
            <a:endParaRPr sz="24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0" descr="16491740358985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05635" y="196850"/>
            <a:ext cx="9618345" cy="622998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"/>
          <p:cNvSpPr txBox="1"/>
          <p:nvPr/>
        </p:nvSpPr>
        <p:spPr>
          <a:xfrm>
            <a:off x="334010" y="362585"/>
            <a:ext cx="1105535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LF1</a:t>
            </a:r>
            <a:endParaRPr sz="4000" b="1">
              <a:solidFill>
                <a:schemeClr val="accen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765300" y="204470"/>
            <a:ext cx="8959850" cy="665353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 txBox="1"/>
          <p:nvPr/>
        </p:nvSpPr>
        <p:spPr>
          <a:xfrm>
            <a:off x="334010" y="362585"/>
            <a:ext cx="1105535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LF3</a:t>
            </a:r>
            <a:endParaRPr sz="4000" b="1">
              <a:solidFill>
                <a:schemeClr val="accent1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/>
        </p:nvSpPr>
        <p:spPr>
          <a:xfrm>
            <a:off x="615950" y="160655"/>
            <a:ext cx="693039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Calculer la LME avec la limite </a:t>
            </a:r>
            <a:endParaRPr sz="2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2" descr="16641740437982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5950" y="781685"/>
            <a:ext cx="9767570" cy="594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2" descr="16621740437930_.pic"/>
          <p:cNvPicPr preferRelativeResize="0"/>
          <p:nvPr/>
        </p:nvPicPr>
        <p:blipFill rotWithShape="1">
          <a:blip r:embed="rId4"/>
          <a:srcRect r="58009"/>
          <a:stretch>
            <a:fillRect/>
          </a:stretch>
        </p:blipFill>
        <p:spPr>
          <a:xfrm>
            <a:off x="4673600" y="2376170"/>
            <a:ext cx="6427470" cy="3228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"/>
          <p:cNvSpPr txBox="1"/>
          <p:nvPr/>
        </p:nvSpPr>
        <p:spPr>
          <a:xfrm>
            <a:off x="868045" y="133350"/>
            <a:ext cx="816991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 1 : LME_limite_120_énoncés </a:t>
            </a:r>
            <a:endParaRPr sz="2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 txBox="1"/>
          <p:nvPr/>
        </p:nvSpPr>
        <p:spPr>
          <a:xfrm>
            <a:off x="7807960" y="0"/>
            <a:ext cx="4046220" cy="92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197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</a:t>
            </a:r>
            <a:r>
              <a:rPr lang="en-US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2 min</a:t>
            </a: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13" descr="16701740441354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06500" y="910590"/>
            <a:ext cx="9025890" cy="5766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/>
        </p:nvSpPr>
        <p:spPr>
          <a:xfrm>
            <a:off x="752475" y="133350"/>
            <a:ext cx="8169910" cy="521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 2 : LME_limite_500_mots </a:t>
            </a:r>
            <a:endParaRPr sz="2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7287260" y="133350"/>
            <a:ext cx="490474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1min53s</a:t>
            </a:r>
            <a:endParaRPr sz="20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4" descr="16681740441047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34440" y="840105"/>
            <a:ext cx="9110980" cy="5953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/>
        </p:nvSpPr>
        <p:spPr>
          <a:xfrm>
            <a:off x="405130" y="133350"/>
            <a:ext cx="816991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 3 : LME_limite_500000_millisecondes </a:t>
            </a:r>
            <a:endParaRPr sz="24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7287260" y="133350"/>
            <a:ext cx="490474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5min34s</a:t>
            </a:r>
            <a:endParaRPr sz="20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5" descr="16691740441289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91590" y="840105"/>
            <a:ext cx="9353550" cy="5828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/>
        </p:nvSpPr>
        <p:spPr>
          <a:xfrm>
            <a:off x="405130" y="133350"/>
            <a:ext cx="8169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Test 4 : RTT_limite_600_énoncés </a:t>
            </a:r>
            <a:endParaRPr sz="2800" b="1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7287260" y="133350"/>
            <a:ext cx="4904740" cy="706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de fichiers traités:</a:t>
            </a:r>
            <a:r>
              <a:rPr lang="en-US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197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de traitement:</a:t>
            </a:r>
            <a:r>
              <a:rPr lang="en-US" sz="20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2min11s</a:t>
            </a:r>
            <a:endParaRPr sz="2000" b="1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6" descr="16651740438652_.pic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79170" y="840105"/>
            <a:ext cx="9514205" cy="59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g2dccf2b498e_0_13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152400" y="73225"/>
            <a:ext cx="12039600" cy="625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6BC50A4-EC4D-4398-8543-13CD3B2DB7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" name="Group 5">
            <a:extLst>
              <a:ext uri="{FF2B5EF4-FFF2-40B4-BE49-F238E27FC236}">
                <a16:creationId xmlns:a16="http://schemas.microsoft.com/office/drawing/2014/main" id="{CB6840DE-7FD0-4440-BDD2-7BB44B4D96EA}"/>
              </a:ext>
            </a:extLst>
          </p:cNvPr>
          <p:cNvGrpSpPr/>
          <p:nvPr/>
        </p:nvGrpSpPr>
        <p:grpSpPr>
          <a:xfrm>
            <a:off x="594253" y="572081"/>
            <a:ext cx="209307" cy="236179"/>
            <a:chOff x="4551216" y="1039091"/>
            <a:chExt cx="1226129" cy="1046018"/>
          </a:xfrm>
          <a:solidFill>
            <a:schemeClr val="tx1"/>
          </a:solidFill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6380B0-7A90-4169-BDB8-C5A1DB98F9DA}"/>
                </a:ext>
              </a:extLst>
            </p:cNvPr>
            <p:cNvSpPr/>
            <p:nvPr/>
          </p:nvSpPr>
          <p:spPr>
            <a:xfrm>
              <a:off x="4551218" y="1039091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678D360-8929-4321-9B04-9761B07EA8A0}"/>
                </a:ext>
              </a:extLst>
            </p:cNvPr>
            <p:cNvSpPr/>
            <p:nvPr/>
          </p:nvSpPr>
          <p:spPr>
            <a:xfrm>
              <a:off x="4551217" y="1468582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FF7AC24-C44A-4FB5-9349-203B5950C731}"/>
                </a:ext>
              </a:extLst>
            </p:cNvPr>
            <p:cNvSpPr/>
            <p:nvPr/>
          </p:nvSpPr>
          <p:spPr>
            <a:xfrm>
              <a:off x="4551216" y="1898073"/>
              <a:ext cx="1226127" cy="187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96E208-5B2C-425B-9BC9-5EA7C358895E}"/>
              </a:ext>
            </a:extLst>
          </p:cNvPr>
          <p:cNvSpPr txBox="1"/>
          <p:nvPr/>
        </p:nvSpPr>
        <p:spPr>
          <a:xfrm>
            <a:off x="594253" y="2035097"/>
            <a:ext cx="106964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fr-FR" altLang="zh-CN" sz="9600" dirty="0">
                <a:solidFill>
                  <a:schemeClr val="bg1"/>
                </a:solidFill>
                <a:latin typeface="阿里巴巴普惠体 Heavy" pitchFamily="18" charset="-122"/>
                <a:ea typeface="阿里巴巴普惠体 Heavy" pitchFamily="18" charset="-122"/>
                <a:cs typeface="阿里巴巴普惠体 Heavy" pitchFamily="18" charset="-122"/>
              </a:rPr>
              <a:t>Merci de votre attention!</a:t>
            </a:r>
            <a:endParaRPr lang="en-US" altLang="zh-CN" sz="9600" dirty="0">
              <a:solidFill>
                <a:schemeClr val="bg1"/>
              </a:solidFill>
              <a:latin typeface="Calibri Light"/>
              <a:ea typeface="方正细谭黑简体"/>
              <a:sym typeface="Calibri Light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A716ECB0-F6C0-449C-9B1C-206DD7702F66}"/>
              </a:ext>
            </a:extLst>
          </p:cNvPr>
          <p:cNvGrpSpPr/>
          <p:nvPr/>
        </p:nvGrpSpPr>
        <p:grpSpPr>
          <a:xfrm>
            <a:off x="1705295" y="1431264"/>
            <a:ext cx="3205551" cy="64500"/>
            <a:chOff x="2557344" y="2040066"/>
            <a:chExt cx="3205550" cy="64500"/>
          </a:xfrm>
        </p:grpSpPr>
        <p:cxnSp>
          <p:nvCxnSpPr>
            <p:cNvPr id="18" name="Google Shape;141;p25">
              <a:extLst>
                <a:ext uri="{FF2B5EF4-FFF2-40B4-BE49-F238E27FC236}">
                  <a16:creationId xmlns:a16="http://schemas.microsoft.com/office/drawing/2014/main" id="{422B2D14-77EF-46A7-A381-0C9A9D84F5D7}"/>
                </a:ext>
              </a:extLst>
            </p:cNvPr>
            <p:cNvCxnSpPr/>
            <p:nvPr/>
          </p:nvCxnSpPr>
          <p:spPr>
            <a:xfrm rot="16200000">
              <a:off x="3734094" y="895566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" name="Google Shape;144;p25">
              <a:extLst>
                <a:ext uri="{FF2B5EF4-FFF2-40B4-BE49-F238E27FC236}">
                  <a16:creationId xmlns:a16="http://schemas.microsoft.com/office/drawing/2014/main" id="{768DEC07-56E4-4A8B-92D4-8A6DBEFBBA50}"/>
                </a:ext>
              </a:extLst>
            </p:cNvPr>
            <p:cNvSpPr/>
            <p:nvPr/>
          </p:nvSpPr>
          <p:spPr>
            <a:xfrm rot="5400000">
              <a:off x="511802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0" name="Google Shape;145;p25">
              <a:extLst>
                <a:ext uri="{FF2B5EF4-FFF2-40B4-BE49-F238E27FC236}">
                  <a16:creationId xmlns:a16="http://schemas.microsoft.com/office/drawing/2014/main" id="{2BE585BB-BA8D-4FA2-861F-7727BD84DF32}"/>
                </a:ext>
              </a:extLst>
            </p:cNvPr>
            <p:cNvSpPr/>
            <p:nvPr/>
          </p:nvSpPr>
          <p:spPr>
            <a:xfrm rot="5400000">
              <a:off x="5311483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1" name="Google Shape;146;p25">
              <a:extLst>
                <a:ext uri="{FF2B5EF4-FFF2-40B4-BE49-F238E27FC236}">
                  <a16:creationId xmlns:a16="http://schemas.microsoft.com/office/drawing/2014/main" id="{3D61FCDB-1B79-4D53-BD7A-9040C7D5DFA6}"/>
                </a:ext>
              </a:extLst>
            </p:cNvPr>
            <p:cNvSpPr/>
            <p:nvPr/>
          </p:nvSpPr>
          <p:spPr>
            <a:xfrm rot="5400000">
              <a:off x="550494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2" name="Google Shape;147;p25">
              <a:extLst>
                <a:ext uri="{FF2B5EF4-FFF2-40B4-BE49-F238E27FC236}">
                  <a16:creationId xmlns:a16="http://schemas.microsoft.com/office/drawing/2014/main" id="{D35EB4C6-48DA-4CAB-A449-A93CA5FFC6FC}"/>
                </a:ext>
              </a:extLst>
            </p:cNvPr>
            <p:cNvSpPr/>
            <p:nvPr/>
          </p:nvSpPr>
          <p:spPr>
            <a:xfrm rot="5400000">
              <a:off x="5698394" y="2040066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B365428C-EEB5-45B5-AE8E-FC17A5E7ADE2}"/>
              </a:ext>
            </a:extLst>
          </p:cNvPr>
          <p:cNvGrpSpPr/>
          <p:nvPr/>
        </p:nvGrpSpPr>
        <p:grpSpPr>
          <a:xfrm>
            <a:off x="1705295" y="5621267"/>
            <a:ext cx="3205551" cy="64800"/>
            <a:chOff x="2619100" y="4885450"/>
            <a:chExt cx="3205550" cy="64500"/>
          </a:xfrm>
        </p:grpSpPr>
        <p:cxnSp>
          <p:nvCxnSpPr>
            <p:cNvPr id="24" name="Google Shape;141;p25">
              <a:extLst>
                <a:ext uri="{FF2B5EF4-FFF2-40B4-BE49-F238E27FC236}">
                  <a16:creationId xmlns:a16="http://schemas.microsoft.com/office/drawing/2014/main" id="{4F818B40-0D3D-4088-A519-99F6393855F2}"/>
                </a:ext>
              </a:extLst>
            </p:cNvPr>
            <p:cNvCxnSpPr/>
            <p:nvPr/>
          </p:nvCxnSpPr>
          <p:spPr>
            <a:xfrm rot="16200000">
              <a:off x="3795850" y="3740950"/>
              <a:ext cx="0" cy="2353500"/>
            </a:xfrm>
            <a:prstGeom prst="straightConnector1">
              <a:avLst/>
            </a:prstGeom>
            <a:solidFill>
              <a:schemeClr val="tx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Google Shape;144;p25">
              <a:extLst>
                <a:ext uri="{FF2B5EF4-FFF2-40B4-BE49-F238E27FC236}">
                  <a16:creationId xmlns:a16="http://schemas.microsoft.com/office/drawing/2014/main" id="{CA8E53FC-7547-4F69-909F-5DCC67DA5919}"/>
                </a:ext>
              </a:extLst>
            </p:cNvPr>
            <p:cNvSpPr/>
            <p:nvPr/>
          </p:nvSpPr>
          <p:spPr>
            <a:xfrm rot="5400000">
              <a:off x="517977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6" name="Google Shape;145;p25">
              <a:extLst>
                <a:ext uri="{FF2B5EF4-FFF2-40B4-BE49-F238E27FC236}">
                  <a16:creationId xmlns:a16="http://schemas.microsoft.com/office/drawing/2014/main" id="{E094541F-4FB6-4C3A-AE1D-1A2F7D8EAA68}"/>
                </a:ext>
              </a:extLst>
            </p:cNvPr>
            <p:cNvSpPr/>
            <p:nvPr/>
          </p:nvSpPr>
          <p:spPr>
            <a:xfrm rot="5400000">
              <a:off x="5373239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7" name="Google Shape;146;p25">
              <a:extLst>
                <a:ext uri="{FF2B5EF4-FFF2-40B4-BE49-F238E27FC236}">
                  <a16:creationId xmlns:a16="http://schemas.microsoft.com/office/drawing/2014/main" id="{CBBE2025-B12D-4974-91A8-7E1F8420E607}"/>
                </a:ext>
              </a:extLst>
            </p:cNvPr>
            <p:cNvSpPr/>
            <p:nvPr/>
          </p:nvSpPr>
          <p:spPr>
            <a:xfrm rot="5400000">
              <a:off x="556670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  <p:sp>
          <p:nvSpPr>
            <p:cNvPr id="28" name="Google Shape;147;p25">
              <a:extLst>
                <a:ext uri="{FF2B5EF4-FFF2-40B4-BE49-F238E27FC236}">
                  <a16:creationId xmlns:a16="http://schemas.microsoft.com/office/drawing/2014/main" id="{2D3C2064-1540-47C3-8777-164806F77088}"/>
                </a:ext>
              </a:extLst>
            </p:cNvPr>
            <p:cNvSpPr/>
            <p:nvPr/>
          </p:nvSpPr>
          <p:spPr>
            <a:xfrm rot="5400000">
              <a:off x="5760150" y="4885450"/>
              <a:ext cx="64500" cy="645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/>
                <a:ea typeface="方正细谭黑简体"/>
                <a:sym typeface="Calibri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64488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"/>
    </mc:Choice>
    <mc:Fallback>
      <p:transition spd="slow" advClick="0" advTm="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243</Words>
  <Application>Microsoft Macintosh PowerPoint</Application>
  <PresentationFormat>Grand écran</PresentationFormat>
  <Paragraphs>42</Paragraphs>
  <Slides>18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6" baseType="lpstr">
      <vt:lpstr>Arial Bold</vt:lpstr>
      <vt:lpstr>宋体</vt:lpstr>
      <vt:lpstr>Times New Roman Regular</vt:lpstr>
      <vt:lpstr>阿里巴巴普惠体 Heavy</vt:lpstr>
      <vt:lpstr>Arial</vt:lpstr>
      <vt:lpstr>Calibri</vt:lpstr>
      <vt:lpstr>Calibri Light</vt:lpstr>
      <vt:lpstr>WPS</vt:lpstr>
      <vt:lpstr>Projet Professionnel Dylnet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Professionnel Dylnet </dc:title>
  <dc:creator>yangbin</dc:creator>
  <cp:lastModifiedBy>Microsoft Office User</cp:lastModifiedBy>
  <cp:revision>12</cp:revision>
  <dcterms:created xsi:type="dcterms:W3CDTF">2025-02-27T18:52:45Z</dcterms:created>
  <dcterms:modified xsi:type="dcterms:W3CDTF">2025-02-28T00:20:41Z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2052-6.11.0.8608</vt:lpwstr>
  </property>
  <property fmtid="{D5CDD505-2E9C-101B-9397-08002B2CF9AE}" pid="3" name="ICV">
    <vt:lpwstr>ECC39FE6681613CD6E3BB2672F2BB18C_41</vt:lpwstr>
  </property>
</Properties>
</file>